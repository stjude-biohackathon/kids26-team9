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assumption: everyone eventually has the event</c:v>
                </c:pt>
              </c:strCache>
            </c:strRef>
          </c:tx>
          <c:spPr>
            <a:ln w="34925">
              <a:solidFill>
                <a:srgbClr val="77808F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1.0</c:v>
                </c:pt>
                <c:pt idx="1">
                  <c:v>0.72</c:v>
                </c:pt>
                <c:pt idx="2">
                  <c:v>0.52</c:v>
                </c:pt>
                <c:pt idx="3">
                  <c:v>0.37</c:v>
                </c:pt>
                <c:pt idx="4">
                  <c:v>0.27</c:v>
                </c:pt>
                <c:pt idx="5">
                  <c:v>0.19</c:v>
                </c:pt>
                <c:pt idx="6">
                  <c:v>0.14</c:v>
                </c:pt>
                <c:pt idx="7">
                  <c:v>0.1</c:v>
                </c:pt>
                <c:pt idx="8">
                  <c:v>0.07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 cured group: the curve plateaus</c:v>
                </c:pt>
              </c:strCache>
            </c:strRef>
          </c:tx>
          <c:spPr>
            <a:ln w="34925">
              <a:solidFill>
                <a:srgbClr val="9E1B3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1.0</c:v>
                </c:pt>
                <c:pt idx="1">
                  <c:v>0.75</c:v>
                </c:pt>
                <c:pt idx="2">
                  <c:v>0.6</c:v>
                </c:pt>
                <c:pt idx="3">
                  <c:v>0.51</c:v>
                </c:pt>
                <c:pt idx="4">
                  <c:v>0.46</c:v>
                </c:pt>
                <c:pt idx="5">
                  <c:v>0.43</c:v>
                </c:pt>
                <c:pt idx="6">
                  <c:v>0.42</c:v>
                </c:pt>
                <c:pt idx="7">
                  <c:v>0.415</c:v>
                </c:pt>
                <c:pt idx="8">
                  <c:v>0.41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50" b="0">
                    <a:solidFill>
                      <a:srgbClr val="77808F"/>
                    </a:solidFill>
                  </a:rPr>
                  <a:t>Years since treatment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780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2E5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50" b="0">
                    <a:solidFill>
                      <a:srgbClr val="77808F"/>
                    </a:solidFill>
                  </a:rPr>
                  <a:t>Share still event-free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780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84048" cy="6858000"/>
          </a:xfrm>
          <a:prstGeom prst="roundRect">
            <a:avLst>
              <a:gd name="adj" fmla="val 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43000" y="184708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9AA8"/>
                </a:solidFill>
                <a:latin typeface="Calibri"/>
              </a:rPr>
              <a:t>ST. JUDE BIOHACKATHON 2026  ·  KIDS26 TEAM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9875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cureAssess,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70332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 i="0">
                <a:solidFill>
                  <a:srgbClr val="C6CCD4"/>
                </a:solidFill>
                <a:latin typeface="Calibri"/>
              </a:rPr>
              <a:t>What the R package does, why it exists, and what we are turning it into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029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Project:  </a:t>
            </a:r>
            <a:r>
              <a:rPr sz="1400" b="0" i="0">
                <a:solidFill>
                  <a:srgbClr val="A8B0BC"/>
                </a:solidFill>
                <a:latin typeface="Calibri"/>
              </a:rPr>
              <a:t>cureAssessApp  —  a guided Shiny front end for the cureAssess R package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Read before you start:  </a:t>
            </a:r>
            <a:r>
              <a:rPr sz="1400" b="0" i="0">
                <a:solidFill>
                  <a:srgbClr val="A8B0BC"/>
                </a:solidFill>
                <a:latin typeface="Calibri"/>
              </a:rPr>
              <a:t>project-management/onboarding.md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The 60-second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10835640" cy="1316736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60120" y="2167128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2002536"/>
            <a:ext cx="9464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Some patients never have the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404872"/>
            <a:ext cx="9464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Modern therapy cures people. In those studies a share of patients will never relapse and never die of the disease, no matter how long you watch.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64408"/>
            <a:ext cx="10835640" cy="1316736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0120" y="3648456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3483864"/>
            <a:ext cx="9464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Cure models handle that — if two assumptions hold.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3886200"/>
            <a:ext cx="9464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There must really be a cured group, and follow-up must be long enough to see it. Fit one when those fail and your answers are biased in a direction you cannot predict.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45736"/>
            <a:ext cx="10835640" cy="1316736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20" y="5129784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4965192"/>
            <a:ext cx="9464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cureAssess checks those assumptions. We are giving it a front 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367528"/>
            <a:ext cx="9464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50" b="0" i="0">
                <a:solidFill>
                  <a:srgbClr val="4A5568"/>
                </a:solidFill>
                <a:latin typeface="Calibri"/>
              </a:rPr>
              <a:t>The package is written, published and peer-review-backed. Using it means writing R and knowing the literature. Our three days: make it point-and-click.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7808F"/>
                </a:solidFill>
                <a:latin typeface="Calibri"/>
              </a:rPr>
              <a:t>More depth: docs/cure-models-101.md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Ordinary survival analysis assumes everyone
eventually has the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12848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A Kaplan-Meier curve estimates the share of patients still event-free over time.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The traditional assumption is that, given enough time, the curve goes to zero — everyone relapses or dies eventually.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When some patients are effectively cured, the curve instead </a:t>
            </a:r>
            <a:r>
              <a:rPr sz="1500" b="1" i="0">
                <a:solidFill>
                  <a:srgbClr val="23272F"/>
                </a:solidFill>
                <a:latin typeface="Calibri"/>
              </a:rPr>
              <a:t>flattens into a plateau above zero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 and stays there. That flat tail is the cured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138928"/>
            <a:ext cx="4617720" cy="932688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5321808"/>
            <a:ext cx="4206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23272F"/>
                </a:solidFill>
                <a:latin typeface="Calibri"/>
              </a:rPr>
              <a:t>The plateau is the signal we are after — but as slide 7 shows, it can also be a lie.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0" y="1993392"/>
          <a:ext cx="58521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7808F"/>
                </a:solidFill>
                <a:latin typeface="Calibri"/>
              </a:rPr>
              <a:t>Illustrative curves, drawn to show the shape of the two assumptions.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What a cure model actually says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55648"/>
            <a:ext cx="10835640" cy="1078992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S(t)  =  (1 - p)  +  p × Su(t)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07792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77808F"/>
                </a:solidFill>
                <a:latin typeface="Calibri"/>
              </a:rPr>
              <a:t>One population, split into two groups, described by one equation.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10128"/>
            <a:ext cx="3502152" cy="1060704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43814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E1B32"/>
                </a:solidFill>
                <a:latin typeface="Cambria"/>
              </a:rPr>
              <a:t>S(t)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85615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Share of everyone still event-free at time t. This is the curve you see.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3310128"/>
            <a:ext cx="3502152" cy="1060704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1144" y="343814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E1B32"/>
                </a:solidFill>
                <a:latin typeface="Cambria"/>
              </a:rPr>
              <a:t>(1 - 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3785615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The cure fraction. The share who will never have the event. The height of the plateau.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3310128"/>
            <a:ext cx="3502152" cy="1060704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7888" y="343814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E1B32"/>
                </a:solidFill>
                <a:latin typeface="Cambria"/>
              </a:rPr>
              <a:t>p x Su(t)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785615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The uncured share p, times their own survival curve Su(t). This part does head to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98848"/>
            <a:ext cx="10835640" cy="1572768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681728"/>
            <a:ext cx="10287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400" b="1" i="0">
                <a:solidFill>
                  <a:srgbClr val="23272F"/>
                </a:solidFill>
                <a:latin typeface="Calibri"/>
              </a:rPr>
              <a:t>Two things worth knowing.  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Nobody is labelled.  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Cure status is never observed. The model describes the proportions of long-term and short-term survivors in a population — it does not tell you which patients are cured.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"Cure" is shorthand.  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For a mortality endpoint, read it as long-term survivorship: the hazard has become negligible, not that anyone is immune to death.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WHY A CHECK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The catch: two extra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A cure model needs everything ordinary survival analysis needs, and then these two.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5321808" cy="278892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60120" y="2487168"/>
            <a:ext cx="566928" cy="566928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72" y="261518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There is really a cured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10128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The cure fraction (1 - p) has to be genuinely above zero. If nobody is cured, a cure model is fitting a parameter that does not exist.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Checked by:  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the AIC comparison, and the pi-hat part of RECeUS.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12848"/>
            <a:ext cx="5321808" cy="278892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92240" y="2487168"/>
            <a:ext cx="566928" cy="566928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261518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Follow-up is long enough to see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10128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Formally: tau(F0) &lt;= tau(G). Follow-up must run past the point by which every patient who was ever going to have the event already has.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Checked by:  </a:t>
            </a:r>
            <a:r>
              <a:rPr sz="1300" b="0" i="0">
                <a:solidFill>
                  <a:srgbClr val="4A5568"/>
                </a:solidFill>
                <a:latin typeface="Calibri"/>
              </a:rPr>
              <a:t>Maller-Zhou, qn, Shen, and the r-hat part of RECeUS.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84064"/>
            <a:ext cx="10835640" cy="1042415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5230368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intuition for assumption 2.  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C6CCD4"/>
                </a:solidFill>
                <a:latin typeface="Calibri"/>
              </a:rPr>
              <a:t>If you stop watching too early, a patient who is still event-free could be cured, or could be someone due to relapse next year. The data cannot tell those two people apart — so the cure fraction cannot be pinned 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Why getting it wrong is expensive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Othus and colleagues re-analysed </a:t>
            </a:r>
            <a:r>
              <a:rPr sz="1600" b="1" i="0">
                <a:solidFill>
                  <a:srgbClr val="23272F"/>
                </a:solidFill>
                <a:latin typeface="Calibri"/>
              </a:rPr>
              <a:t>six SWOG cancer trials</a:t>
            </a:r>
            <a:r>
              <a:rPr sz="1600" b="0" i="0">
                <a:solidFill>
                  <a:srgbClr val="4A5568"/>
                </a:solidFill>
                <a:latin typeface="Calibri"/>
              </a:rPr>
              <a:t> twice: once at an early follow-up, then again once follow-up had matured.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87168"/>
            <a:ext cx="3401568" cy="178308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3218688" cy="748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9E1B32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8568"/>
            <a:ext cx="32186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clinical trials re-analysed at two
different follow-up 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487168"/>
            <a:ext cx="3401568" cy="1783080"/>
          </a:xfrm>
          <a:prstGeom prst="roundRect">
            <a:avLst>
              <a:gd name="adj" fmla="val 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9704" y="2743200"/>
            <a:ext cx="3218688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B06A0F"/>
                </a:solidFill>
                <a:latin typeface="Cambria"/>
              </a:rPr>
              <a:t>shifted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3392424"/>
            <a:ext cx="32186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estimates of mean survival moved
materially between the two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2487168"/>
            <a:ext cx="3410712" cy="1783080"/>
          </a:xfrm>
          <a:prstGeom prst="roundRect">
            <a:avLst>
              <a:gd name="adj" fmla="val 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02168" y="2743200"/>
            <a:ext cx="3227832" cy="442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B06A0F"/>
                </a:solidFill>
                <a:latin typeface="Cambria"/>
              </a:rPr>
              <a:t>unpredictable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3222244"/>
            <a:ext cx="32278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the direction of the shift could
not be anticipated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26280"/>
            <a:ext cx="10835640" cy="1481328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718304"/>
            <a:ext cx="10287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So there is no fixing it afterwards.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 i="0">
                <a:solidFill>
                  <a:srgbClr val="C6CCD4"/>
                </a:solidFill>
                <a:latin typeface="Calibri"/>
              </a:rPr>
              <a:t>If the shift had a known direction you could adjust for it. It does not. That is why the check belongs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before</a:t>
            </a:r>
            <a:r>
              <a:rPr sz="1400" b="0" i="0">
                <a:solidFill>
                  <a:srgbClr val="C6CCD4"/>
                </a:solidFill>
                <a:latin typeface="Calibri"/>
              </a:rPr>
              <a:t> you fit the model, not after — and why a tool that makes the check easy is worth three 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7808F"/>
                </a:solidFill>
                <a:latin typeface="Calibri"/>
              </a:rPr>
              <a:t>Othus M, et al. Bias in mean survival from fitting cure models with limited follow-up. Value in Health. 2020;23(8):1034-9.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A plateau is not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835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Heavy drop-out manufactures a flat tail all by itself. We can prove it by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9424"/>
            <a:ext cx="10835640" cy="1737360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432304"/>
            <a:ext cx="10287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Simulated scenario D  —  we know the truth because we made it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7808F"/>
                </a:solidFill>
                <a:latin typeface="Calibri"/>
              </a:rPr>
              <a:t>True cure fraction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272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B6E4F"/>
                </a:solidFill>
                <a:latin typeface="Cambr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52928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7808F"/>
                </a:solidFill>
                <a:latin typeface="Calibri"/>
              </a:rPr>
              <a:t>Drop-out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272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23272F"/>
                </a:solidFill>
                <a:latin typeface="Cambria"/>
              </a:rPr>
              <a:t>0.45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852928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7808F"/>
                </a:solidFill>
                <a:latin typeface="Calibri"/>
              </a:rPr>
              <a:t>Plateau visible?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1272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B06A0F"/>
                </a:solidFill>
                <a:latin typeface="Cambria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852928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77808F"/>
                </a:solidFill>
                <a:latin typeface="Calibri"/>
              </a:rPr>
              <a:t>Verdict from cureAssess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127248"/>
            <a:ext cx="2487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B6E4F"/>
                </a:solidFill>
                <a:latin typeface="Cambria"/>
              </a:rP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8"/>
            <a:ext cx="10835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Read that row again. There was </a:t>
            </a:r>
            <a:r>
              <a:rPr sz="1500" b="1" i="0">
                <a:solidFill>
                  <a:srgbClr val="23272F"/>
                </a:solidFill>
                <a:latin typeface="Calibri"/>
              </a:rPr>
              <a:t>no cured group at all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 — and a plateau appeared anyway, purely because patients stopped being followed. An analyst eyeballing that curve would have reached for a cure model and been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85232"/>
            <a:ext cx="10835640" cy="786384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449824"/>
            <a:ext cx="10287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9E1B32"/>
                </a:solidFill>
                <a:latin typeface="Calibri"/>
              </a:rPr>
              <a:t>This is the whole reason the package exists.  </a:t>
            </a:r>
            <a:r>
              <a:rPr sz="1350" b="0" i="0">
                <a:solidFill>
                  <a:srgbClr val="23272F"/>
                </a:solidFill>
                <a:latin typeface="Calibri"/>
              </a:rPr>
              <a:t>The diagnostics correctly refused this dataset. Your eyes would not have.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WORKFLOW WE ARE AUTOMATING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The three-step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From Figure 1 of the tutorial manuscript. Fail any step and a cure model is inappropriate.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3502152" cy="3236976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41832" y="2450592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145536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Expert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785615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 i="0">
                <a:solidFill>
                  <a:srgbClr val="23272F"/>
                </a:solidFill>
                <a:latin typeface="Calibri"/>
              </a:rPr>
              <a:t>Is cure biologically plausible here? Is long-term survival without recurrence expected?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6268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A conversation with a clinician. Software cannot do this step — so in our app the user confirms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212848"/>
            <a:ext cx="3502152" cy="3236976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08576" y="2450592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145536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Visual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785615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 i="0">
                <a:solidFill>
                  <a:srgbClr val="23272F"/>
                </a:solidFill>
                <a:latin typeface="Calibri"/>
              </a:rPr>
              <a:t>Does the Kaplan-Meier curve plateau above zero? Are late events absent?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46268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cureAssess draws the curve. Note: fewer events per unit time near the end is the signal, not smaller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2212848"/>
            <a:ext cx="3502152" cy="3236976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275319" y="2450592"/>
            <a:ext cx="548640" cy="548640"/>
          </a:xfrm>
          <a:prstGeom prst="ellipse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145536"/>
            <a:ext cx="30175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 i="0">
                <a:solidFill>
                  <a:srgbClr val="23272F"/>
                </a:solidFill>
                <a:latin typeface="Cambria"/>
              </a:rPr>
              <a:t>Quantitative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785615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 i="0">
                <a:solidFill>
                  <a:srgbClr val="23272F"/>
                </a:solidFill>
                <a:latin typeface="Calibri"/>
              </a:rPr>
              <a:t>Do the statistics support both a cure fraction and sufficient follow-up?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462686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4A5568"/>
                </a:solidFill>
                <a:latin typeface="Calibri"/>
              </a:rPr>
              <a:t>Five diagnostics, next slide. This is where the package does the real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77840"/>
            <a:ext cx="10835640" cy="713232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0120" y="5705856"/>
            <a:ext cx="102870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6CCD4"/>
                </a:solidFill>
                <a:latin typeface="Calibri"/>
              </a:rPr>
              <a:t>cureAssess automates steps 2 and 3. Step 1 stays human — and our Verdict tab will show it as something the user ticks, not something the software decides.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What the package does: two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55648"/>
            <a:ext cx="5321808" cy="228600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9385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STAGE 1  · 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3272F"/>
                </a:solidFill>
                <a:latin typeface="Cambria"/>
              </a:rPr>
              <a:t>Does a cure model even fit better?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Fits a cure model </a:t>
            </a:r>
            <a:r>
              <a:rPr sz="1250" b="1" i="0">
                <a:solidFill>
                  <a:srgbClr val="23272F"/>
                </a:solidFill>
                <a:latin typeface="Calibri"/>
              </a:rPr>
              <a:t>and</a:t>
            </a:r>
            <a:r>
              <a:rPr sz="1250" b="0" i="0">
                <a:solidFill>
                  <a:srgbClr val="4A5568"/>
                </a:solidFill>
                <a:latin typeface="Calibri"/>
              </a:rPr>
              <a:t> a non-cure model for each of four distributions — exponential, Weibull, gamma, log-logistic — then ranks all eight by AIC. Lower AIC is better.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1" i="0">
                <a:solidFill>
                  <a:srgbClr val="9E1B32"/>
                </a:solidFill>
                <a:latin typeface="Calibri"/>
              </a:rPr>
              <a:t>Functions:  </a:t>
            </a:r>
            <a:r>
              <a:rPr sz="1200" b="0" i="0">
                <a:solidFill>
                  <a:srgbClr val="4A5568"/>
                </a:solidFill>
                <a:latin typeface="Consolas"/>
              </a:rPr>
              <a:t>prepare.surv.data(), model.fitting()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55648"/>
            <a:ext cx="5321808" cy="2286000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STAGE 2  ·  DIAGNOSTICS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3272F"/>
                </a:solidFill>
                <a:latin typeface="Cambria"/>
              </a:rPr>
              <a:t>Can the cure fraction be trusted?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24912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Runs five formal checks for a real cured group and for sufficient follow-up. This is the stage that catches the censoring-artifact trap.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1" i="0">
                <a:solidFill>
                  <a:srgbClr val="9E1B32"/>
                </a:solidFill>
                <a:latin typeface="Calibri"/>
              </a:rPr>
              <a:t>Functions:  </a:t>
            </a:r>
            <a:r>
              <a:rPr sz="1200" b="0" i="0">
                <a:solidFill>
                  <a:srgbClr val="4A5568"/>
                </a:solidFill>
                <a:latin typeface="Consolas"/>
              </a:rPr>
              <a:t>run.cure.tests(), and the five individually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35640" cy="914400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4370832"/>
            <a:ext cx="10287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cure.appropriateness()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runs both stages in one call and hands back a single object with the verdict.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C6CCD4"/>
                </a:solidFill>
                <a:latin typeface="Calibri"/>
              </a:rPr>
              <a:t>This is the function our app leans on. We do not re-implement a single statistic.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321808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546811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B06A0F"/>
                </a:solidFill>
                <a:latin typeface="Calibri"/>
              </a:rPr>
              <a:t>Watch out:  </a:t>
            </a:r>
            <a:r>
              <a:rPr sz="1350" b="0" i="0">
                <a:solidFill>
                  <a:srgbClr val="23272F"/>
                </a:solidFill>
                <a:latin typeface="Calibri"/>
              </a:rPr>
              <a:t>Stage 1 alone is not enough. A cure model can win on AIC and still be unusable — slide 12 is exactly that case.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STAGE 2 IN ONE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The five diagnostics, and which way is good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00784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Getting the direction backwards is the easiest mistake to make here. Keep this slide handy.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03120"/>
          <a:ext cx="10835639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4709160"/>
                <a:gridCol w="3977639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Diagnostic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 question it asks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Which way is good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A5568"/>
                          </a:solidFill>
                          <a:latin typeface="Calibri"/>
                        </a:rPr>
                        <a:t>mz.test()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A5568"/>
                          </a:solidFill>
                          <a:latin typeface="Calibri"/>
                        </a:rPr>
                        <a:t>Did follow-up run past the last event, by enough?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6E4F"/>
                          </a:solidFill>
                          <a:latin typeface="Calibri"/>
                        </a:rPr>
                        <a:t>Statistic BELOW 0.05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A5568"/>
                          </a:solidFill>
                          <a:latin typeface="Calibri"/>
                        </a:rPr>
                        <a:t>qn.test()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A5568"/>
                          </a:solidFill>
                          <a:latin typeface="Calibri"/>
                        </a:rPr>
                        <a:t>The same question, with the type-I error inflation fixed.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6E4F"/>
                          </a:solidFill>
                          <a:latin typeface="Calibri"/>
                        </a:rPr>
                        <a:t>LARGER is better, vs 1 - 0.05^(1/n)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A5568"/>
                          </a:solidFill>
                          <a:latin typeface="Calibri"/>
                        </a:rPr>
                        <a:t>shen.test()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A5568"/>
                          </a:solidFill>
                          <a:latin typeface="Calibri"/>
                        </a:rPr>
                        <a:t>Are late events absent enough to call it a plateau?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6E4F"/>
                          </a:solidFill>
                          <a:latin typeface="Calibri"/>
                        </a:rPr>
                        <a:t>Statistic BELOW 0.05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A5568"/>
                          </a:solidFill>
                          <a:latin typeface="Calibri"/>
                        </a:rPr>
                        <a:t>immune.test()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A5568"/>
                          </a:solidFill>
                          <a:latin typeface="Calibri"/>
                        </a:rPr>
                        <a:t>Describes the curve's tail. NOT a hypothesis test, despite the name.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7808F"/>
                          </a:solidFill>
                          <a:latin typeface="Calibri"/>
                        </a:rPr>
                        <a:t>No threshold - read it with the rest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A5568"/>
                          </a:solidFill>
                          <a:latin typeface="Calibri"/>
                        </a:rPr>
                        <a:t>receus.method()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A5568"/>
                          </a:solidFill>
                          <a:latin typeface="Calibri"/>
                        </a:rPr>
                        <a:t>Both questions at once: a cure fraction, and sufficient follow-up?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6E4F"/>
                          </a:solidFill>
                          <a:latin typeface="Calibri"/>
                        </a:rPr>
                        <a:t>pi-hat ABOVE 0.025 AND r-hat BELOW 0.05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5504688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5650992"/>
            <a:ext cx="10287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r-hat</a:t>
            </a:r>
            <a:r>
              <a:rPr sz="1300" b="0" i="0">
                <a:solidFill>
                  <a:srgbClr val="23272F"/>
                </a:solidFill>
                <a:latin typeface="Calibri"/>
              </a:rPr>
              <a:t>  is the share of uncured patients still censored at the end of follow-up. Small means you watched nearly all of them long enough. It is the number to watch.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Example 1: a dataset where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23272F"/>
                </a:solidFill>
                <a:latin typeface="Consolas"/>
              </a:rPr>
              <a:t>survival::nwtco</a:t>
            </a:r>
            <a:r>
              <a:rPr sz="1450" b="0" i="0">
                <a:solidFill>
                  <a:srgbClr val="4A5568"/>
                </a:solidFill>
                <a:latin typeface="Calibri"/>
              </a:rPr>
              <a:t>, high-risk cohort (Wilms tumour, stages 3-4), n = 1404.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40864"/>
            <a:ext cx="10835640" cy="1847088"/>
          </a:xfrm>
          <a:prstGeom prst="roundRect">
            <a:avLst>
              <a:gd name="adj" fmla="val 5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23272F"/>
                </a:solidFill>
                <a:latin typeface="Cambria"/>
              </a:rPr>
              <a:t>loglogistic_cure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45536"/>
            <a:ext cx="248716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model chosen by AIC
(a cure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4203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6E4F"/>
                </a:solidFill>
                <a:latin typeface="Cambria"/>
              </a:rPr>
              <a:t>0.7823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145536"/>
            <a:ext cx="248716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pi-hat: estimated cure fraction
needs to be above 0.025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4203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6E4F"/>
                </a:solidFill>
                <a:latin typeface="Cambria"/>
              </a:rPr>
              <a:t>0.0041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145536"/>
            <a:ext cx="248716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r-hat: uncured still censored
needs to be below 0.05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542032"/>
            <a:ext cx="24871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B6E4F"/>
                </a:solidFill>
                <a:latin typeface="Cambria"/>
              </a:rPr>
              <a:t>1.0e-140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145536"/>
            <a:ext cx="248716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A5568"/>
                </a:solidFill>
                <a:latin typeface="Calibri"/>
              </a:rPr>
              <a:t>Maller-Zhou statistic
needs to be below 0.05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52544"/>
            <a:ext cx="10835640" cy="969264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4498848"/>
            <a:ext cx="102870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C6CCD4"/>
                </a:solidFill>
                <a:latin typeface="Calibri"/>
              </a:rPr>
              <a:t>Verdict:  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Cure model appropriate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C6CCD4"/>
                </a:solidFill>
                <a:latin typeface="Calibri"/>
              </a:rPr>
              <a:t>Every condition is met, comfortably. This is the happy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835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9E1B32"/>
                </a:solidFill>
                <a:latin typeface="Calibri"/>
              </a:rPr>
              <a:t>Why it passes:  </a:t>
            </a:r>
            <a:r>
              <a:rPr sz="1350" b="0" i="0">
                <a:solidFill>
                  <a:srgbClr val="4A5568"/>
                </a:solidFill>
                <a:latin typeface="Calibri"/>
              </a:rPr>
              <a:t>78% of this cohort never relapsed, and only 0.4% of the uncured patients were still being followed when the study ended. There is a cured group, and we watched long enough to see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77808F"/>
                </a:solidFill>
                <a:latin typeface="Calibri"/>
              </a:rPr>
              <a:t>Verified 2026-09-15 with R 4.6.1, cureAssess 0.1.0. Full oracle in project-management/qa-plan.md.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WORKED EXAMPLE  ·  THE ONE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Example 2: a dataset where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3272F"/>
                </a:solidFill>
                <a:latin typeface="Consolas"/>
              </a:rPr>
              <a:t>survival::gbsg</a:t>
            </a:r>
            <a:r>
              <a:rPr sz="1450" b="0" i="0">
                <a:solidFill>
                  <a:srgbClr val="4A5568"/>
                </a:solidFill>
                <a:latin typeface="Calibri"/>
              </a:rPr>
              <a:t>, German breast cancer study, recurrence-free survival, n = 686.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5321808" cy="1773936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STAGE 1 SAYS 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2491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23272F"/>
                </a:solidFill>
                <a:latin typeface="Cambria"/>
              </a:rPr>
              <a:t>loglogistic_cure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55264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Smallest AIC of all eight candidates is a cure model. A naive analyst stops here and fits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12848"/>
            <a:ext cx="5321808" cy="1773936"/>
          </a:xfrm>
          <a:prstGeom prst="roundRect">
            <a:avLst>
              <a:gd name="adj" fmla="val 5000"/>
            </a:avLst>
          </a:prstGeom>
          <a:solidFill>
            <a:srgbClr val="FA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06A0F"/>
                </a:solidFill>
                <a:latin typeface="Calibri"/>
              </a:rPr>
              <a:t>STAGE 2 SAYS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88336"/>
            <a:ext cx="4800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06A0F"/>
                </a:solidFill>
                <a:latin typeface="Cambria"/>
              </a:rPr>
              <a:t>r-hat = 0.3080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55264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50" b="0" i="0">
                <a:solidFill>
                  <a:srgbClr val="4A5568"/>
                </a:solidFill>
                <a:latin typeface="Calibri"/>
              </a:rPr>
              <a:t>About 31% of uncured patients were still censored when follow-up ended. The cure fraction cannot be pinned 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9663"/>
            <a:ext cx="10835640" cy="1005840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315968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C6CCD4"/>
                </a:solidFill>
                <a:latin typeface="Calibri"/>
              </a:rPr>
              <a:t>Verdict:  </a:t>
            </a:r>
            <a:r>
              <a:rPr sz="1900" b="1" i="0">
                <a:solidFill>
                  <a:srgbClr val="FFFFFF"/>
                </a:solidFill>
                <a:latin typeface="Cambria"/>
              </a:rPr>
              <a:t>Follow-up insufficient for cure modeling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i="0">
                <a:solidFill>
                  <a:srgbClr val="C6CCD4"/>
                </a:solidFill>
                <a:latin typeface="Calibri"/>
              </a:rPr>
              <a:t>pi-hat was a healthy 0.3238 — there probably IS a cured group here. We just did not watch long enough to measure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21808"/>
            <a:ext cx="10835640" cy="877824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468112"/>
            <a:ext cx="10287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9E1B32"/>
                </a:solidFill>
                <a:latin typeface="Calibri"/>
              </a:rPr>
              <a:t>The point of the whole project:  </a:t>
            </a:r>
            <a:r>
              <a:rPr sz="1400" b="0" i="0">
                <a:solidFill>
                  <a:srgbClr val="23272F"/>
                </a:solidFill>
                <a:latin typeface="Calibri"/>
              </a:rPr>
              <a:t>a better AIC fit is not evidence that a cure model is identifiable. Stage 1 on its own would have got this wrong.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AND THEY WILL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When the diagnostics disagree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835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The same gbsg dataset, all five diagnostics. They do not all agree — and that is not a bug.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176272"/>
          <a:ext cx="108356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468880"/>
                <a:gridCol w="2377440"/>
                <a:gridCol w="36576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Diagnostic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 on gbsg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Says</a:t>
                      </a:r>
                    </a:p>
                  </a:txBody>
                  <a:tcPr marL="109728" marR="91440" marT="45720" marB="45720" anchor="ctr">
                    <a:solidFill>
                      <a:srgbClr val="9E1B3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A5568"/>
                          </a:solidFill>
                          <a:latin typeface="Calibri"/>
                        </a:rPr>
                        <a:t>mz.test()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0.0495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below 0.05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6E4F"/>
                          </a:solidFill>
                          <a:latin typeface="Calibri"/>
                        </a:rPr>
                        <a:t>follow-up IS sufficient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A5568"/>
                          </a:solidFill>
                          <a:latin typeface="Calibri"/>
                        </a:rPr>
                        <a:t>qn.test()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0.0044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larger is better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06A0F"/>
                          </a:solidFill>
                          <a:latin typeface="Calibri"/>
                        </a:rPr>
                        <a:t>follow-up is NOT sufficient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A5568"/>
                          </a:solidFill>
                          <a:latin typeface="Calibri"/>
                        </a:rPr>
                        <a:t>shen.test()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0.3676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below 0.05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06A0F"/>
                          </a:solidFill>
                          <a:latin typeface="Calibri"/>
                        </a:rPr>
                        <a:t>follow-up is NOT sufficient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4A5568"/>
                          </a:solidFill>
                          <a:latin typeface="Calibri"/>
                        </a:rPr>
                        <a:t>receus.method()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r-hat 0.3080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4A5568"/>
                          </a:solidFill>
                          <a:latin typeface="Calibri"/>
                        </a:rPr>
                        <a:t>below 0.05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B06A0F"/>
                          </a:solidFill>
                          <a:latin typeface="Calibri"/>
                        </a:rPr>
                        <a:t>follow-up is NOT sufficient</a:t>
                      </a:r>
                    </a:p>
                  </a:txBody>
                  <a:tcPr marL="109728" marR="91440" marT="45720" marB="45720" anchor="ctr">
                    <a:solidFill>
                      <a:srgbClr val="F7F6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809744"/>
            <a:ext cx="10835640" cy="1371600"/>
          </a:xfrm>
          <a:prstGeom prst="roundRect">
            <a:avLst>
              <a:gd name="adj" fmla="val 5000"/>
            </a:avLst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4956048"/>
            <a:ext cx="1028700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Maller-Zhou scrapes under its threshold at 0.0495 and says yes; the other three say no. Maller-Zhou is the oldest of the four and is known to over-reject — which is precisely why Shen and qn were developed.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1" i="0">
                <a:solidFill>
                  <a:srgbClr val="23272F"/>
                </a:solidFill>
                <a:latin typeface="Calibri"/>
              </a:rPr>
              <a:t>So: these are descriptive aids, read together and alongside what a clinician knows. They are not a single decision rule, and our app has to present them that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E1B32"/>
                </a:solidFill>
                <a:latin typeface="Calibri"/>
              </a:rPr>
              <a:t>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23272F"/>
                </a:solidFill>
                <a:latin typeface="Cambria"/>
              </a:rPr>
              <a:t>What we are building in three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00784"/>
            <a:ext cx="10835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4A5568"/>
                </a:solidFill>
                <a:latin typeface="Calibri"/>
              </a:rPr>
              <a:t>One guided Shiny app. Five tabs, in the order a user should think about the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6858000" cy="621792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2688" y="2368296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E1B32"/>
                </a:solidFill>
                <a:latin typeface="Cambria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951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Pick a built-in dataset or upload a CSV, map the time and status columns, see the Kaplan-Meier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9504"/>
            <a:ext cx="6858000" cy="621792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E1B32"/>
                </a:solidFill>
                <a:latin typeface="Cambria"/>
              </a:rPr>
              <a:t>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9008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Fit all eight candidates, rank by AIC, show which won and whether it was a cure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84448"/>
            <a:ext cx="6858000" cy="621792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58184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E1B32"/>
                </a:solidFill>
                <a:latin typeface="Cambria"/>
              </a:rPr>
              <a:t>Diagnostics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68503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All five checks as cards: the statistic, the threshold, and a plain-language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79392"/>
            <a:ext cx="6858000" cy="621792"/>
          </a:xfrm>
          <a:prstGeom prst="roundRect">
            <a:avLst>
              <a:gd name="adj" fmla="val 5000"/>
            </a:avLst>
          </a:prstGeom>
          <a:solidFill>
            <a:srgbClr val="ED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53128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E1B32"/>
                </a:solidFill>
                <a:latin typeface="Cambria"/>
              </a:rPr>
              <a:t>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37997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The three-step workflow, the recommendation in plain English, and the downloadable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74336"/>
            <a:ext cx="6858000" cy="621792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148072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E1B32"/>
                </a:solidFill>
                <a:latin typeface="Cambria"/>
              </a:rPr>
              <a:t>About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074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00" b="0" i="0">
                <a:solidFill>
                  <a:srgbClr val="4A5568"/>
                </a:solidFill>
                <a:latin typeface="Calibri"/>
              </a:rPr>
              <a:t>What it does, what it does not do, the references, how to cite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19456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19872" y="239572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E89AA8"/>
                </a:solidFill>
                <a:latin typeface="Calibri"/>
              </a:rPr>
              <a:t>THE SHAPE OF THE THREE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743200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07238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B4BCC8"/>
                </a:solidFill>
                <a:latin typeface="Calibri"/>
              </a:rPr>
              <a:t>Set up, skeleton app, example data, and the reference answers we test against.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363931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Thu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3968496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B4BCC8"/>
                </a:solidFill>
                <a:latin typeface="Calibri"/>
              </a:rPr>
              <a:t>Models, diagnostics, verdict, report. Everything done by 5 pm — feature freeze.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4535424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Fri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2" y="48646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B4BCC8"/>
                </a:solidFill>
                <a:latin typeface="Calibri"/>
              </a:rPr>
              <a:t>Bugs, docs, rehearsal. Code locks at 2:45 pm. Demos at 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60720"/>
            <a:ext cx="10835640" cy="731520"/>
          </a:xfrm>
          <a:prstGeom prst="roundRect">
            <a:avLst>
              <a:gd name="adj" fmla="val 5000"/>
            </a:avLst>
          </a:prstGeom>
          <a:solidFill>
            <a:srgbClr val="F4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5907024"/>
            <a:ext cx="10287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>
                <a:solidFill>
                  <a:srgbClr val="9E1B32"/>
                </a:solidFill>
                <a:latin typeface="Calibri"/>
              </a:rPr>
              <a:t>Ground rule:  </a:t>
            </a:r>
            <a:r>
              <a:rPr sz="1300" b="0" i="0">
                <a:solidFill>
                  <a:srgbClr val="23272F"/>
                </a:solidFill>
                <a:latin typeface="Calibri"/>
              </a:rPr>
              <a:t>the app never computes a statistic itself. It calls cureAssess and displays what comes back. Every number on screen must be traceable to a package call.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84048" cy="6858000"/>
          </a:xfrm>
          <a:prstGeom prst="roundRect">
            <a:avLst>
              <a:gd name="adj" fmla="val 0"/>
            </a:avLst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9AA8"/>
                </a:solidFill>
                <a:latin typeface="Calibri"/>
              </a:rP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49808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Where to look, and who to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9AA8"/>
                </a:solidFill>
                <a:latin typeface="Calibri"/>
              </a:rPr>
              <a:t>READ THESE, IN THIS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311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project-management/onboarding.md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your first 90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980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docs/cure-models-101.md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this deck, in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6499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project-management/team.md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what you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project-management/task-backlog.md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your actual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884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docs/shiny-app-spec.md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how the app is put 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6577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onsolas"/>
              </a:rPr>
              <a:t>project-management/schedule.md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where to be, and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9AA8"/>
                </a:solidFill>
                <a:latin typeface="Calibri"/>
              </a:rPr>
              <a:t>WHO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3113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Geethanjalee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anything statistical, or anything about the package — she wrote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944368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Sharon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app architecture, and merges into 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657600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Rachael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data, example datasets, and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7083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Durbadal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AA2B0"/>
                </a:solidFill>
                <a:latin typeface="Calibri"/>
              </a:rPr>
              <a:t>scope, priorities, and anything that is blocking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5157216"/>
            <a:ext cx="4572000" cy="950976"/>
          </a:xfrm>
          <a:prstGeom prst="roundRect">
            <a:avLst>
              <a:gd name="adj" fmla="val 5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95160" y="5303520"/>
            <a:ext cx="411480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Ask early.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0" i="0">
                <a:solidFill>
                  <a:srgbClr val="A8B0BC"/>
                </a:solidFill>
                <a:latin typeface="Calibri"/>
              </a:rPr>
              <a:t>Put the blocker in a GitHub issue the moment you are stuck, not at the next standup.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79729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 i="0">
                <a:solidFill>
                  <a:srgbClr val="C6CCD4"/>
                </a:solidFill>
                <a:latin typeface="Calibri"/>
              </a:rPr>
              <a:t>Key references:  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00" b="0" i="0">
                <a:solidFill>
                  <a:srgbClr val="808896"/>
                </a:solidFill>
                <a:latin typeface="Calibri"/>
              </a:rPr>
              <a:t>Maller &amp; Zhou (1992, 1994) · Shen (2000) · Selukar &amp; Othus, RECeUS (2023) · Mudunkotuwa, Ghosh, Triplett &amp; Selukar, tutorial in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